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4a4cad8-4658-8657-610e-ce1105f80300}">
          <p14:sldIdLst>
            <p14:sldId id="256"/>
          </p14:sldIdLst>
        </p14:section>
        <p14:section name="Context" id="{e1beacb3-74d3-e8f7-f120-c724bf052793}">
          <p14:sldIdLst>
            <p14:sldId id="257"/>
            <p14:sldId id="258"/>
            <p14:sldId id="259"/>
          </p14:sldIdLst>
        </p14:section>
        <p14:section name="Problem" id="{4cb944cd-7765-6142-370e-077e610f5837}">
          <p14:sldIdLst>
            <p14:sldId id="260"/>
            <p14:sldId id="261"/>
          </p14:sldIdLst>
        </p14:section>
        <p14:section name="Solution" id="{2e7a5bd0-4301-a4f8-a6e8-d784345648d1}">
          <p14:sldIdLst>
            <p14:sldId id="262"/>
            <p14:sldId id="263"/>
            <p14:sldId id="264"/>
          </p14:sldIdLst>
        </p14:section>
        <p14:section name="Value" id="{e09dabbb-62e6-408e-aabb-1241a900dc15}">
          <p14:sldIdLst>
            <p14:sldId id="265"/>
            <p14:sldId id="266"/>
            <p14:sldId id="267"/>
          </p14:sldIdLst>
        </p14:section>
        <p14:section name="Close" id="{a7d32c80-de57-f205-b5d7-cedc47e8ea8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2"/>
                </a:solidFill>
                <a:latin typeface="+mn-lt"/>
              </a:rPr>
              <a:t>CDF allocation per constituency (K million)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million per constituency</c:v>
                </c:pt>
              </c:strCache>
            </c:strRef>
          </c:tx>
          <c:spPr>
            <a:solidFill>
              <a:srgbClr val="C2621F"/>
            </a:solidFill>
            <a:ln w="38100" cap="flat">
              <a:solidFill>
                <a:srgbClr val="C2621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2621F"/>
              </a:solidFill>
              <a:ln w="9525" cap="flat">
                <a:solidFill>
                  <a:srgbClr val="C262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25.7</c:v>
                </c:pt>
                <c:pt idx="2">
                  <c:v>28.3</c:v>
                </c:pt>
                <c:pt idx="3">
                  <c:v>30.6</c:v>
                </c:pt>
                <c:pt idx="4">
                  <c:v>36.1</c:v>
                </c:pt>
                <c:pt idx="5">
                  <c:v>40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D5DD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2"/>
                </a:solidFill>
                <a:latin typeface="+mn-lt"/>
              </a:rPr>
              <a:t>Approved in 2025 (K million)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million</c:v>
                </c:pt>
              </c:strCache>
            </c:strRef>
          </c:tx>
          <c:spPr>
            <a:solidFill>
              <a:srgbClr val="143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3D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62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6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6B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Community projects</c:v>
                  </c:pt>
                  <c:pt idx="1">
                    <c:v>Skills bursaries</c:v>
                  </c:pt>
                  <c:pt idx="2">
                    <c:v>Loans</c:v>
                  </c:pt>
                  <c:pt idx="3">
                    <c:v>Empowerment grants</c:v>
                  </c:pt>
                  <c:pt idx="4">
                    <c:v>Secondary bursaries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2900</c:v>
                </c:pt>
                <c:pt idx="1">
                  <c:v>709</c:v>
                </c:pt>
                <c:pt idx="2">
                  <c:v>421</c:v>
                </c:pt>
                <c:pt idx="3">
                  <c:v>348</c:v>
                </c:pt>
                <c:pt idx="4">
                  <c:v>188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Loans since 2021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6B4A"/>
              </a:solidFill>
              <a:effectLst/>
            </c:spPr>
          </c:dPt>
          <c:dPt>
            <c:idx val="1"/>
            <c:bubble3D val="0"/>
            <c:spPr>
              <a:solidFill>
                <a:srgbClr val="D5DDD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A22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Repaid (35%)</c:v>
                </c:pt>
                <c:pt idx="1">
                  <c:v>Not yet repaid (65%)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2"/>
                </a:solidFill>
                <a:latin typeface="+mn-lt"/>
              </a:rPr>
              <a:t>What the score is made of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6B4A"/>
              </a:solidFill>
              <a:effectLst/>
            </c:spPr>
          </c:dPt>
          <c:dPt>
            <c:idx val="1"/>
            <c:bubble3D val="0"/>
            <c:spPr>
              <a:solidFill>
                <a:srgbClr val="C2621F"/>
              </a:solidFill>
              <a:effectLst/>
            </c:spPr>
          </c:dPt>
          <c:dPt>
            <c:idx val="2"/>
            <c:bubble3D val="0"/>
            <c:spPr>
              <a:solidFill>
                <a:srgbClr val="55655C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Cost-to-revenue</c:v>
                </c:pt>
                <c:pt idx="1">
                  <c:v>Request vs pool</c:v>
                </c:pt>
                <c:pt idx="2">
                  <c:v>Completeness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2"/>
                </a:solidFill>
                <a:latin typeface="+mn-lt"/>
              </a:rPr>
              <a:t>Cumulative beneficiaries, as reported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Youth</c:v>
                </c:pt>
              </c:strCache>
            </c:strRef>
          </c:tx>
          <c:spPr>
            <a:solidFill>
              <a:srgbClr val="2B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Grants (groups)</c:v>
                  </c:pt>
                  <c:pt idx="1">
                    <c:v>Loans (enterprises)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8766</c:v>
                </c:pt>
                <c:pt idx="1">
                  <c:v>1506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C26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Grants (groups)</c:v>
                  </c:pt>
                  <c:pt idx="1">
                    <c:v>Loans (enterprises)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18282</c:v>
                </c:pt>
                <c:pt idx="1">
                  <c:v>1557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Zambia lends CDF money to groups and SMEs, but repayment is the weak link. FundPath is a prototype that manages the whole path from discovery to repayment.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2021 was K1.6m per constituency; 2026 is K40m. That is 25 times more money flowing through councils, which raises the stakes on how well loans are recovered.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Loans are a small part of the fund by value, but they are the only part that is supposed to come back and be lent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20/40/60 split is a reported estimate, not a figure in the Act. The Act requires each constituency to hold a loan revolving account, which is why recovery matters: repaid money funds the next borrowers.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statement: a growing fund, and a revolving loan window that is frozen because recovery is weak. The 9% and 35% figures come from different briefings; the lack of one auditable number is part of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documented steps. The journey ends at approval and disbursement. Nothing in it manages the loan afterwards, which is where FundPath comes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four steps mirror and improve the existing journey. The fifth, repayment tracking, is the stage that is missing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rules-based, so every decision can be explained. Weights are 40% cost-to-revenue, 40% request versus pool, 20% completeness. These are prototype design choices, not official CDF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Client, API and database are separate tiers. Roles are applicant, advisor and admin. Admin routes are guarded once at the router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proposition is recovery. The arithmetic is simple on purpose: 10 percent of K421 million is K42.1 million that can be lent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Cumulative counts: 8,766 youth groups and 18,282 women groups received grants; 1,506 youth and 1,557 women enterprises received loans. Grants never come back, loans do, so repayment is what lets the loan side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constituencies are real places; the applications and repayments in the prototype are demo data. Every constituency receives the same K40m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takeaways, then take questions. The photos are AI-generated illustrations, not real people or businesses.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60120"/>
            <a:ext cx="4663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834640"/>
            <a:ext cx="4663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4663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240280"/>
            <a:ext cx="46634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FundPath  ·  BIT 301  ·  University of Lusaka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Zambian entrepreneur reviewing a financial overview on a lapt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BIT 301  ·  E-BUSINESS AND ENTERPRISE SYSTEMS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9601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FundPath: from CDF loan to repayment</a:t>
            </a:r>
            <a:endParaRPr lang="en-US" sz="32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457200" y="28346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platform that closes the gap between borrowing and repayment in Zambia’s Constituency Development Fund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Chimwemwe Siyingwa  ·  University of Lusaka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CDF funding per constituency grew 25-fold in five years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52120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28016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3533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810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constituencies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594360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048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K40m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862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in the 2026 budget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5943600" y="3383280"/>
            <a:ext cx="2743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456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≈K6.24bn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3913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national total, 2026</a:t>
            </a:r>
            <a:endParaRPr lang="en-US" sz="1400" dirty="0"/>
          </a:p>
        </p:txBody>
      </p:sp>
      <p:sp>
        <p:nvSpPr>
          <p:cNvPr id="13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Ministry of Local Government and Rural Development, “CDF increase to K40 million”; Presidential Delivery Unit. National total = 156 × K40m.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 2025 most CDF went to projects; loans were K421m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53949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6035040" y="128016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0" y="1353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funds released (K5.26bn)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6035040" y="233172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4048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862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utilisation by December 2025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603504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4564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6,694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913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loan beneficiaries approved</a:t>
            </a:r>
            <a:endParaRPr lang="en-US" sz="1400" dirty="0"/>
          </a:p>
        </p:txBody>
      </p:sp>
      <p:sp>
        <p:nvSpPr>
          <p:cNvPr id="13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Zambia Monitor, 27 Jan 2026, reporting a Ministry of Local Government briefing. Government figures as reported; loans are about 8% of K5.26bn released.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Each constituency’s loan pool is a small slice of its K40m</a:t>
            </a:r>
            <a:endParaRPr lang="en-US" sz="2800" dirty="0"/>
          </a:p>
        </p:txBody>
      </p:sp>
      <p:sp>
        <p:nvSpPr>
          <p:cNvPr id="3" name="Pyramid tier 1"/>
          <p:cNvSpPr/>
          <p:nvPr/>
        </p:nvSpPr>
        <p:spPr>
          <a:xfrm>
            <a:off x="1737360" y="1280160"/>
            <a:ext cx="1280160" cy="987552"/>
          </a:xfrm>
          <a:custGeom>
            <a:avLst/>
            <a:gdLst/>
            <a:ahLst/>
            <a:cxnLst/>
            <a:rect l="l" t="t" r="r" b="b"/>
            <a:pathLst>
              <a:path w="1280160" h="987552">
                <a:moveTo>
                  <a:pt x="640080" y="0"/>
                </a:moveTo>
                <a:lnTo>
                  <a:pt x="1280160" y="987552"/>
                </a:lnTo>
                <a:lnTo>
                  <a:pt x="0" y="987552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847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Loans</a:t>
            </a:r>
            <a:endParaRPr lang="en-US" sz="1400" dirty="0"/>
          </a:p>
        </p:txBody>
      </p:sp>
      <p:sp>
        <p:nvSpPr>
          <p:cNvPr id="5" name="Pyramid tier 2"/>
          <p:cNvSpPr/>
          <p:nvPr/>
        </p:nvSpPr>
        <p:spPr>
          <a:xfrm>
            <a:off x="1097280" y="2313432"/>
            <a:ext cx="2560320" cy="987552"/>
          </a:xfrm>
          <a:custGeom>
            <a:avLst/>
            <a:gdLst/>
            <a:ahLst/>
            <a:cxnLst/>
            <a:rect l="l" t="t" r="r" b="b"/>
            <a:pathLst>
              <a:path w="2560320" h="987552">
                <a:moveTo>
                  <a:pt x="640080" y="0"/>
                </a:moveTo>
                <a:lnTo>
                  <a:pt x="1920240" y="0"/>
                </a:lnTo>
                <a:lnTo>
                  <a:pt x="2560320" y="987552"/>
                </a:lnTo>
                <a:lnTo>
                  <a:pt x="0" y="987552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26609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Empowerment · 20%</a:t>
            </a:r>
            <a:endParaRPr lang="en-US" sz="1400" dirty="0"/>
          </a:p>
        </p:txBody>
      </p:sp>
      <p:sp>
        <p:nvSpPr>
          <p:cNvPr id="7" name="Pyramid tier 3"/>
          <p:cNvSpPr/>
          <p:nvPr/>
        </p:nvSpPr>
        <p:spPr>
          <a:xfrm>
            <a:off x="457200" y="3346704"/>
            <a:ext cx="3840480" cy="987552"/>
          </a:xfrm>
          <a:custGeom>
            <a:avLst/>
            <a:gdLst/>
            <a:ahLst/>
            <a:cxnLst/>
            <a:rect l="l" t="t" r="r" b="b"/>
            <a:pathLst>
              <a:path w="3840480" h="987552">
                <a:moveTo>
                  <a:pt x="640080" y="0"/>
                </a:moveTo>
                <a:lnTo>
                  <a:pt x="3200400" y="0"/>
                </a:lnTo>
                <a:lnTo>
                  <a:pt x="3840480" y="987552"/>
                </a:lnTo>
                <a:lnTo>
                  <a:pt x="0" y="987552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3694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Allocation · K40m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280160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≈K4.8m in loans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60% of empowerment money, repaid into the constituency’s revolving loan account.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313432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≈K8m for empowerment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Youth, women and community groups: grants (≈40%, K3.2m) and loans (≈60%, K4.8m).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346704"/>
            <a:ext cx="3977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K40m a year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community projects, bursaries and emergencies, approved by the CDF Committee.</a:t>
            </a:r>
            <a:endParaRPr lang="en-US" sz="1600" dirty="0"/>
          </a:p>
        </p:txBody>
      </p:sp>
      <p:sp>
        <p:nvSpPr>
          <p:cNvPr id="12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Zambian Economist, “How to apply for CDF grants and loans” (split is a reported estimate; councils vary); CDF Act 2024 (Act No. 1 of 2024), s.16(2)(b) revolving account.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gap: CDF lends money, but too little comes back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34747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280160" y="2240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200" dirty="0"/>
          </a:p>
        </p:txBody>
      </p:sp>
      <p:sp>
        <p:nvSpPr>
          <p:cNvPr id="5" name="Problem card 1"/>
          <p:cNvSpPr/>
          <p:nvPr/>
        </p:nvSpPr>
        <p:spPr>
          <a:xfrm>
            <a:off x="4160520" y="1280160"/>
            <a:ext cx="4526280" cy="713232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43400" y="128016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K35 of every K100 lent since 2021 has been repaid (Sept 2026).</a:t>
            </a:r>
            <a:endParaRPr lang="en-US" sz="1400" dirty="0"/>
          </a:p>
        </p:txBody>
      </p:sp>
      <p:sp>
        <p:nvSpPr>
          <p:cNvPr id="7" name="Problem card 2"/>
          <p:cNvSpPr/>
          <p:nvPr/>
        </p:nvSpPr>
        <p:spPr>
          <a:xfrm>
            <a:off x="4160520" y="2084832"/>
            <a:ext cx="4526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43400" y="208483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2026 loan component was suspended; new loans now depend on recoveries.</a:t>
            </a:r>
            <a:endParaRPr lang="en-US" sz="1400" dirty="0"/>
          </a:p>
        </p:txBody>
      </p:sp>
      <p:sp>
        <p:nvSpPr>
          <p:cNvPr id="9" name="Problem card 3"/>
          <p:cNvSpPr/>
          <p:nvPr/>
        </p:nvSpPr>
        <p:spPr>
          <a:xfrm>
            <a:off x="4160520" y="2889504"/>
            <a:ext cx="45262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3400" y="288950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Briefings differ: about 9% repayment in Jan 2026, 35% in Sept 2026.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373075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“A loan is a loan and must be paid back.”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Local Government Minister, May 2025</a:t>
            </a:r>
            <a:endParaRPr lang="en-US" sz="1600" dirty="0"/>
          </a:p>
        </p:txBody>
      </p:sp>
      <p:sp>
        <p:nvSpPr>
          <p:cNvPr id="12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Lusaka Times, 29 Sep 2026 (Ministry of Local Government and Rural Development, repayment since the 2021 expansion); Zambia Monitor, 27 Jan 2026 and 12 May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published CDF loan route has six steps, none for repayment</a:t>
            </a:r>
            <a:endParaRPr lang="en-US" sz="28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Council opens an application window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64208" y="1984248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tep 2"/>
          <p:cNvSpPr/>
          <p:nvPr/>
        </p:nvSpPr>
        <p:spPr>
          <a:xfrm>
            <a:off x="1865376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56816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56816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form from council or WDC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72384" y="1984248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tep 3"/>
          <p:cNvSpPr/>
          <p:nvPr/>
        </p:nvSpPr>
        <p:spPr>
          <a:xfrm>
            <a:off x="3273552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6499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64992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a proposal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1984248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tep 4"/>
          <p:cNvSpPr/>
          <p:nvPr/>
        </p:nvSpPr>
        <p:spPr>
          <a:xfrm>
            <a:off x="4681728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WDC screens eligibility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88736" y="1984248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Step 5"/>
          <p:cNvSpPr/>
          <p:nvPr/>
        </p:nvSpPr>
        <p:spPr>
          <a:xfrm>
            <a:off x="6089904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81344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81344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CDF Committee appraises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96912" y="1984248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Step 6"/>
          <p:cNvSpPr/>
          <p:nvPr/>
        </p:nvSpPr>
        <p:spPr>
          <a:xfrm>
            <a:off x="7498080" y="1280160"/>
            <a:ext cx="1188720" cy="14173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371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Council approves and disburses</a:t>
            </a:r>
            <a:endParaRPr lang="en-US" sz="1400" dirty="0"/>
          </a:p>
        </p:txBody>
      </p:sp>
      <p:sp>
        <p:nvSpPr>
          <p:cNvPr id="32" name="Step 7 gap"/>
          <p:cNvSpPr/>
          <p:nvPr/>
        </p:nvSpPr>
        <p:spPr>
          <a:xfrm>
            <a:off x="457200" y="29260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85800" y="29260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7  Repay and recover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stage FundPath adds: schedule, balance tracking, reminders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Disbursement often lands in a later quarter than approval.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ministry has asked councils to explain loan terms to borrowers before disbursement.</a:t>
            </a:r>
            <a:endParaRPr lang="en-US" sz="1400" dirty="0"/>
          </a:p>
        </p:txBody>
      </p:sp>
      <p:sp>
        <p:nvSpPr>
          <p:cNvPr id="35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Sources: Zambian Economist (application flow; WDC = Ward Development Committee); Zambia Monitor, 12 May 2025 (sensitisation directive).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FundPath adds the missing repayment stage to the CDF journey</a:t>
            </a:r>
            <a:endParaRPr lang="en-US" sz="2800" dirty="0"/>
          </a:p>
        </p:txBody>
      </p:sp>
      <p:sp>
        <p:nvSpPr>
          <p:cNvPr id="3" name="Solution card 1"/>
          <p:cNvSpPr/>
          <p:nvPr/>
        </p:nvSpPr>
        <p:spPr>
          <a:xfrm>
            <a:off x="457200" y="12801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Discov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Discover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432304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 CDF opportunities by constituency and sector.</a:t>
            </a:r>
            <a:endParaRPr lang="en-US" sz="1400" dirty="0"/>
          </a:p>
        </p:txBody>
      </p:sp>
      <p:sp>
        <p:nvSpPr>
          <p:cNvPr id="8" name="Solution card 2"/>
          <p:cNvSpPr/>
          <p:nvPr/>
        </p:nvSpPr>
        <p:spPr>
          <a:xfrm>
            <a:off x="2125980" y="12801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631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lan and sco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6314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 and score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263140" y="2432304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 cash flows; get a feasibility score from 0 to 100.</a:t>
            </a:r>
            <a:endParaRPr lang="en-US" sz="1400" dirty="0"/>
          </a:p>
        </p:txBody>
      </p:sp>
      <p:sp>
        <p:nvSpPr>
          <p:cNvPr id="13" name="Solution card 3"/>
          <p:cNvSpPr/>
          <p:nvPr/>
        </p:nvSpPr>
        <p:spPr>
          <a:xfrm>
            <a:off x="3794760" y="12801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319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Get advi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Get advice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32304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 a session with a verified advisor.</a:t>
            </a:r>
            <a:endParaRPr lang="en-US" sz="1400" dirty="0"/>
          </a:p>
        </p:txBody>
      </p:sp>
      <p:sp>
        <p:nvSpPr>
          <p:cNvPr id="18" name="Solution card 4"/>
          <p:cNvSpPr/>
          <p:nvPr/>
        </p:nvSpPr>
        <p:spPr>
          <a:xfrm>
            <a:off x="5463540" y="12801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6007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Appl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0070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00700" y="2432304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 once and follow each review stage live.</a:t>
            </a:r>
            <a:endParaRPr lang="en-US" sz="1400" dirty="0"/>
          </a:p>
        </p:txBody>
      </p:sp>
      <p:sp>
        <p:nvSpPr>
          <p:cNvPr id="23" name="Solution card 5"/>
          <p:cNvSpPr/>
          <p:nvPr/>
        </p:nvSpPr>
        <p:spPr>
          <a:xfrm>
            <a:off x="7132320" y="12801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6948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Repa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54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948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Repay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269480" y="2432304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Repayment schedule, balance and reminders.</a:t>
            </a:r>
            <a:endParaRPr lang="en-US" sz="1400" dirty="0"/>
          </a:p>
        </p:txBody>
      </p:sp>
      <p:sp>
        <p:nvSpPr>
          <p:cNvPr id="28" name="Admin layer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Administrator layer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portfolio dashboard, review queue, advisor verification, opportunity management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transparent 0–100 score routes each application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38404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w band"/>
          <p:cNvSpPr/>
          <p:nvPr/>
        </p:nvSpPr>
        <p:spPr>
          <a:xfrm>
            <a:off x="4572000" y="1417320"/>
            <a:ext cx="1851660" cy="5029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0" y="141732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Low</a:t>
            </a:r>
            <a:endParaRPr lang="en-US" sz="1400" dirty="0"/>
          </a:p>
        </p:txBody>
      </p:sp>
      <p:sp>
        <p:nvSpPr>
          <p:cNvPr id="6" name="Medium band"/>
          <p:cNvSpPr/>
          <p:nvPr/>
        </p:nvSpPr>
        <p:spPr>
          <a:xfrm>
            <a:off x="6423660" y="1417320"/>
            <a:ext cx="1028700" cy="5029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23660" y="1417320"/>
            <a:ext cx="10287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Medium</a:t>
            </a:r>
            <a:endParaRPr lang="en-US" sz="1400" dirty="0"/>
          </a:p>
        </p:txBody>
      </p:sp>
      <p:sp>
        <p:nvSpPr>
          <p:cNvPr id="8" name="High band"/>
          <p:cNvSpPr/>
          <p:nvPr/>
        </p:nvSpPr>
        <p:spPr>
          <a:xfrm>
            <a:off x="7452360" y="1417320"/>
            <a:ext cx="123444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4173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High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0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9506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45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70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238658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331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High, 70 and above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 margins and a proportionate request; fast-tracked to the committee.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0" y="307238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30175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Medium, 45 to 69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Viable idea that needs mentor revisions first.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0" y="3758184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7033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Low, below 45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Oversized request or incomplete cash flow; routed to advisory.</a:t>
            </a:r>
            <a:endParaRPr lang="en-US" sz="1400" dirty="0"/>
          </a:p>
        </p:txBody>
      </p:sp>
      <p:sp>
        <p:nvSpPr>
          <p:cNvPr id="20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FundPath prototype scoring rules (deterministic, rules-based). Thresholds and weights are the prototype’s own design, not CDF policy.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three-tier architecture keeps the platform modular</a:t>
            </a:r>
            <a:endParaRPr lang="en-US" sz="2800" dirty="0"/>
          </a:p>
        </p:txBody>
      </p:sp>
      <p:sp>
        <p:nvSpPr>
          <p:cNvPr id="3" name="Tier 1"/>
          <p:cNvSpPr/>
          <p:nvPr/>
        </p:nvSpPr>
        <p:spPr>
          <a:xfrm>
            <a:off x="457200" y="123444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2588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PRESENTATION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React web client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React 18, Vite, TypeScript, Tailwind. Separate views for applicants, advisors and admins.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62656" y="224028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6" name="Tier 2"/>
          <p:cNvSpPr/>
          <p:nvPr/>
        </p:nvSpPr>
        <p:spPr>
          <a:xfrm>
            <a:off x="3337560" y="123444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2152" y="132588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BUSINESS LOGIC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Express REST API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 route modules, including auth, applications, advisors and admin. Scoring lives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43016" y="2240280"/>
            <a:ext cx="3383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headEnd type="triangle"/>
            <a:tailEnd type="triangle"/>
          </a:ln>
        </p:spPr>
      </p:sp>
      <p:sp>
        <p:nvSpPr>
          <p:cNvPr id="9" name="Tier 3"/>
          <p:cNvSpPr/>
          <p:nvPr/>
        </p:nvSpPr>
        <p:spPr>
          <a:xfrm>
            <a:off x="6217920" y="123444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132588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DATA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PostgreSQL on Neon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Accessed through Prisma. Stores applications, scores and repayment records.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Every API request passes through</a:t>
            </a:r>
            <a:endParaRPr lang="en-US" sz="1200" dirty="0"/>
          </a:p>
        </p:txBody>
      </p:sp>
      <p:sp>
        <p:nvSpPr>
          <p:cNvPr id="12" name="Middleware 1"/>
          <p:cNvSpPr/>
          <p:nvPr/>
        </p:nvSpPr>
        <p:spPr>
          <a:xfrm>
            <a:off x="45720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38528" y="388620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Middleware 2"/>
          <p:cNvSpPr/>
          <p:nvPr/>
        </p:nvSpPr>
        <p:spPr>
          <a:xfrm>
            <a:off x="214884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884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Rate limit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30168" y="388620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Middleware 3"/>
          <p:cNvSpPr/>
          <p:nvPr/>
        </p:nvSpPr>
        <p:spPr>
          <a:xfrm>
            <a:off x="384048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JWT auth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21808" y="388620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Middleware 4"/>
          <p:cNvSpPr/>
          <p:nvPr/>
        </p:nvSpPr>
        <p:spPr>
          <a:xfrm>
            <a:off x="553212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Role check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13448" y="3886200"/>
            <a:ext cx="19202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Middleware 5"/>
          <p:cNvSpPr/>
          <p:nvPr/>
        </p:nvSpPr>
        <p:spPr>
          <a:xfrm>
            <a:off x="722376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Input validation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24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API and web client deploy to Render from the master branch; the database runs on Neon.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Better recovery is the value: each 10 points recycles K42m</a:t>
            </a:r>
            <a:endParaRPr lang="en-US" sz="2800" dirty="0"/>
          </a:p>
        </p:txBody>
      </p:sp>
      <p:sp>
        <p:nvSpPr>
          <p:cNvPr id="3" name="Value hero"/>
          <p:cNvSpPr/>
          <p:nvPr/>
        </p:nvSpPr>
        <p:spPr>
          <a:xfrm>
            <a:off x="457200" y="1280160"/>
            <a:ext cx="3291840" cy="306324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K42.1m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returned to revolving pools for every 10-point gain in recovery on the K421m of loans approved in 2025.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Illustrative arithmetic, not a forecast.</a:t>
            </a:r>
            <a:endParaRPr lang="en-US" sz="1200" dirty="0"/>
          </a:p>
        </p:txBody>
      </p:sp>
      <p:sp>
        <p:nvSpPr>
          <p:cNvPr id="7" name="Value card 1"/>
          <p:cNvSpPr/>
          <p:nvPr/>
        </p:nvSpPr>
        <p:spPr>
          <a:xfrm>
            <a:off x="3977640" y="1280160"/>
            <a:ext cx="2286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42232" y="1389888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Applicants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clear route and a stronger plan before they apply.</a:t>
            </a:r>
            <a:endParaRPr lang="en-US" sz="1600" dirty="0"/>
          </a:p>
        </p:txBody>
      </p:sp>
      <p:sp>
        <p:nvSpPr>
          <p:cNvPr id="9" name="Value card 2"/>
          <p:cNvSpPr/>
          <p:nvPr/>
        </p:nvSpPr>
        <p:spPr>
          <a:xfrm>
            <a:off x="6400800" y="1280160"/>
            <a:ext cx="2286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389888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Advisors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Paid sessions and a rated reputation.</a:t>
            </a:r>
            <a:endParaRPr lang="en-US" sz="1600" dirty="0"/>
          </a:p>
        </p:txBody>
      </p:sp>
      <p:sp>
        <p:nvSpPr>
          <p:cNvPr id="11" name="Value card 3"/>
          <p:cNvSpPr/>
          <p:nvPr/>
        </p:nvSpPr>
        <p:spPr>
          <a:xfrm>
            <a:off x="3977640" y="2880360"/>
            <a:ext cx="2286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42232" y="2990088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Administrators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live view of backlog, disbursed, repaid and outstanding.</a:t>
            </a:r>
            <a:endParaRPr lang="en-US" sz="1600" dirty="0"/>
          </a:p>
        </p:txBody>
      </p:sp>
      <p:sp>
        <p:nvSpPr>
          <p:cNvPr id="13" name="Value card 4"/>
          <p:cNvSpPr/>
          <p:nvPr/>
        </p:nvSpPr>
        <p:spPr>
          <a:xfrm>
            <a:off x="6400800" y="2880360"/>
            <a:ext cx="22860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65392" y="2990088"/>
            <a:ext cx="19568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The fund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Tracked repayments keep money available to lend again.</a:t>
            </a:r>
            <a:endParaRPr lang="en-US" sz="1600" dirty="0"/>
          </a:p>
        </p:txBody>
      </p:sp>
      <p:sp>
        <p:nvSpPr>
          <p:cNvPr id="15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Calculation: 10% × K421m (loans approved in 2025, Zambia Monitor, 27 Jan 2026) = K42.1m.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Empowerment reaches women and youth, mostly as grants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234440"/>
          <a:ext cx="4754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ociety card 1"/>
          <p:cNvSpPr/>
          <p:nvPr/>
        </p:nvSpPr>
        <p:spPr>
          <a:xfrm>
            <a:off x="5349240" y="1280160"/>
            <a:ext cx="333756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0" y="1280160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27,048 vs 3,063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grant-funded groups against loan-funded enterprises: about 9 to 1.</a:t>
            </a:r>
            <a:endParaRPr lang="en-US" sz="1600" dirty="0"/>
          </a:p>
        </p:txBody>
      </p:sp>
      <p:sp>
        <p:nvSpPr>
          <p:cNvPr id="6" name="Society card 2"/>
          <p:cNvSpPr/>
          <p:nvPr/>
        </p:nvSpPr>
        <p:spPr>
          <a:xfrm>
            <a:off x="5349240" y="2304288"/>
            <a:ext cx="333756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2304288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Recovery decides growth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Loans can reach more people only if repayments recycle.</a:t>
            </a:r>
            <a:endParaRPr lang="en-US" sz="1600" dirty="0"/>
          </a:p>
        </p:txBody>
      </p:sp>
      <p:sp>
        <p:nvSpPr>
          <p:cNvPr id="8" name="Society card 3"/>
          <p:cNvSpPr/>
          <p:nvPr/>
        </p:nvSpPr>
        <p:spPr>
          <a:xfrm>
            <a:off x="5349240" y="3328416"/>
            <a:ext cx="333756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3328416"/>
            <a:ext cx="3063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FundPath’s case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Wider access for first-time borrowers, advice on skills, and visible decisions and repayments.</a:t>
            </a:r>
            <a:endParaRPr lang="en-US" sz="1600" dirty="0"/>
          </a:p>
        </p:txBody>
      </p:sp>
      <p:sp>
        <p:nvSpPr>
          <p:cNvPr id="10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Source: Ministry of Local Government and Rural Development, “CDF increase to K40 million” (cumulative counts as reported). Loan priority groups: youth, women, persons with disabilities.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prototype covers eight constituencies across Zambia</a:t>
            </a:r>
            <a:endParaRPr lang="en-US" sz="2800" dirty="0"/>
          </a:p>
        </p:txBody>
      </p:sp>
      <p:pic>
        <p:nvPicPr>
          <p:cNvPr id="3" name="Zambia map" descr="Map of Zambia marking eight constituencies: Kitwe, Ndola, Kabwe, Lusaka, Livingstone, Mongu, Chipata and Cho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840480" cy="3291840"/>
          </a:xfrm>
          <a:prstGeom prst="rect">
            <a:avLst/>
          </a:prstGeom>
        </p:spPr>
      </p:pic>
      <p:sp>
        <p:nvSpPr>
          <p:cNvPr id="4" name="Stat card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46320" y="1353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constituencies seeded in the prototype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4663440" y="2331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2404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K320m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× K40m: the 2026 CDF allocation across them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34564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913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 borrower records (demo data only)</a:t>
            </a:r>
            <a:endParaRPr lang="en-US" sz="1400" dirty="0"/>
          </a:p>
        </p:txBody>
      </p:sp>
      <p:sp>
        <p:nvSpPr>
          <p:cNvPr id="13" name="Source note"/>
          <p:cNvSpPr txBox="1"/>
          <p:nvPr/>
        </p:nvSpPr>
        <p:spPr>
          <a:xfrm>
            <a:off x="45720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Markers sit at each constituency’s town, not its boundary. Allocation: K40m per constituency, 2026 budget. Application data in the prototype is seeded for demonstration.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hoto" descr="Shopkeeper in Lusaka taking a mobile payment from a custom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486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clearer path turns good plans into repaid capital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2402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CDF now puts K40m into each of 156 constituencies.</a:t>
            </a:r>
            <a:endParaRPr lang="en-US" sz="16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Only 35% of loans made since 2021 has been repaid.</a:t>
            </a:r>
            <a:endParaRPr lang="en-US" sz="16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FundPath adds scoring, advice, tracking and repayment.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Ministry of Local Government and Rural Development (2026). CDF increase to K40 million: what it means for Zambia’s communities. https://www.mlgrd.gov.zm/?p=34032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Zambia Monitor (27 Jan 2026). Govt claims K5.26 billion released under CDF, reports 86% utilisation in 2025. zambiamonitor.com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Lusaka Times (29 Sep 2026). CDF empowerment loans frozen after borrowers repay only 35 percent. lusakatimes.com/2026/09/29/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Zambia Monitor (12 May 2025). Local Government Minister Sialubalo warns CDF loan beneficiaries to pay back. zambiamonitor.com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Zambian Economist. How to apply for CDF grants and loans in Zambia. https://zambianeconomist.com/how-to-apply-cdf-grants-loans-zambia/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Republic of Zambia (2024). Constituency Development Fund Act, 2024 (Act No. 1 of 2024). https://zambialii.org/akn/zm/act/2024/1/eng@2024-04-18/source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Presidential Delivery Unit. Constituency Development Fund. https://www.pdu.gov.zm/cdf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Siyingwa, C. (2026). FundPath prototype source code. https://github.com/mwemmz/cdf-project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Figures are as reported by government and media; check against primary sources before citing formally.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dPath Academic">
  <a:themeElements>
    <a:clrScheme name="FundPath Academic">
      <a:dk1>
        <a:srgbClr val="1B2A22"/>
      </a:dk1>
      <a:lt1>
        <a:srgbClr val="FFFFFF"/>
      </a:lt1>
      <a:dk2>
        <a:srgbClr val="143D2B"/>
      </a:dk2>
      <a:lt2>
        <a:srgbClr val="EAF2EC"/>
      </a:lt2>
      <a:accent1>
        <a:srgbClr val="2B6B4A"/>
      </a:accent1>
      <a:accent2>
        <a:srgbClr val="C2621F"/>
      </a:accent2>
      <a:accent3>
        <a:srgbClr val="D9A441"/>
      </a:accent3>
      <a:accent4>
        <a:srgbClr val="55655C"/>
      </a:accent4>
      <a:accent5>
        <a:srgbClr val="8FB9A0"/>
      </a:accent5>
      <a:accent6>
        <a:srgbClr val="A83A32"/>
      </a:accent6>
      <a:hlink>
        <a:srgbClr val="2B6B4A"/>
      </a:hlink>
      <a:folHlink>
        <a:srgbClr val="55655C"/>
      </a:folHlink>
    </a:clrScheme>
    <a:fontScheme name="FundPath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FundPath: from CDF loan to repayment</dc:title>
  <dc:subject>PptxGenJS Presentation</dc:subject>
  <dc:creator>Chimwemwe Siyingwa</dc:creator>
  <cp:lastModifiedBy>Chimwemwe Siyingwa</cp:lastModifiedBy>
  <cp:revision>1</cp:revision>
  <dcterms:created xsi:type="dcterms:W3CDTF">2026-10-25T10:51:10Z</dcterms:created>
  <dcterms:modified xsi:type="dcterms:W3CDTF">2026-10-25T10:51:10Z</dcterms:modified>
</cp:coreProperties>
</file>